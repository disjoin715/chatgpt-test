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439"/>
        </a:solidFill>
      </p:bgPr>
    </p:bg>
    <p:spTree>
      <p:nvGrpSpPr>
        <p:cNvPr id="1" name=""/>
        <p:cNvGrpSpPr/>
        <p:nvPr/>
      </p:nvGrpSpPr>
      <p:grpSpPr>
        <a:xfrm>
          <a:off x="0" y="0"/>
          <a:ext cx="9144000" cy="5143500"/>
          <a:chOff x="0" y="0"/>
          <a:chExt cx="9144000" cy="5143500"/>
        </a:xfrm>
      </p:grpSpPr>
      <p:sp>
        <p:nvSpPr>
          <p:cNvPr id="2" name="Shape 0"/>
          <p:cNvSpPr/>
          <p:nvPr/>
        </p:nvSpPr>
        <p:spPr>
          <a:xfrm>
            <a:off x="200071" y="171450"/>
            <a:ext cx="8743950" cy="4800600"/>
          </a:xfrm>
          <a:prstGeom prst="roundRect">
            <a:avLst>
              <a:gd name="adj" fmla="val 419048"/>
            </a:avLst>
          </a:prstGeom>
          <a:solidFill>
            <a:srgbClr val="F6F9FE"/>
          </a:solidFill>
          <a:ln w="12700">
            <a:solidFill>
              <a:srgbClr val="DCE3ED"/>
            </a:solidFill>
            <a:prstDash val="solid"/>
          </a:ln>
          <a:effectLst>
            <a:outerShdw sx="100000" sy="100000" kx="0" ky="0" algn="bl" rotWithShape="0" blurRad="114300" dist="2540" dir="5400000">
              <a:srgbClr val="000000">
                <a:alpha val="2500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14315" y="357165"/>
            <a:ext cx="582070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2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18-Month Outlook · Resource Strategy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14315" y="542971"/>
            <a:ext cx="5987034" cy="314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vs. Accelerated Delivery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14315" y="857250"/>
            <a:ext cx="5820705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resourcing choices shape delivery outcomes and policy readiness.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158015" y="400050"/>
            <a:ext cx="1571671" cy="371521"/>
          </a:xfrm>
          <a:prstGeom prst="roundRect">
            <a:avLst>
              <a:gd name="adj" fmla="val 2953480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2286" dir="5400000">
              <a:srgbClr val="000000">
                <a:alpha val="320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243785" y="507218"/>
            <a:ext cx="85771" cy="85771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76200" dist="635" dir="5400000">
              <a:srgbClr val="000000">
                <a:alpha val="300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72350" y="500085"/>
            <a:ext cx="1285921" cy="1857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 FY24 → Q1 FY26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4315" y="1328715"/>
            <a:ext cx="4502688" cy="2643165"/>
          </a:xfrm>
          <a:prstGeom prst="roundRect">
            <a:avLst>
              <a:gd name="adj" fmla="val 484328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88900" dist="1778" dir="5400000">
              <a:srgbClr val="000000">
                <a:alpha val="160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71500" y="1485900"/>
            <a:ext cx="4188409" cy="1857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Resourcing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71500" y="1700235"/>
            <a:ext cx="1571671" cy="242865"/>
          </a:xfrm>
          <a:prstGeom prst="roundRect">
            <a:avLst>
              <a:gd name="adj" fmla="val 7530109"/>
            </a:avLst>
          </a:prstGeom>
          <a:solidFill>
            <a:srgbClr val="F2F6FB"/>
          </a:solidFill>
          <a:ln w="12700">
            <a:solidFill>
              <a:srgbClr val="F2F6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7271" y="1728765"/>
            <a:ext cx="14287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9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FTE · BAU + Incremental Change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1500" y="1971721"/>
            <a:ext cx="1348466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7271" y="2057400"/>
            <a:ext cx="1177016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7271" y="2243115"/>
            <a:ext cx="1177016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~60%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91472" y="1971721"/>
            <a:ext cx="1348466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77151" y="2057400"/>
            <a:ext cx="1177016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BANDWIDTH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77151" y="2243115"/>
            <a:ext cx="1177016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tracks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11352" y="1971721"/>
            <a:ext cx="1348466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97123" y="2057400"/>
            <a:ext cx="1177016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POSTURE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97123" y="2243115"/>
            <a:ext cx="1177016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Moderate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71500" y="2814615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0065" y="2771821"/>
            <a:ext cx="405975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Maintain core operations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700065" y="2900385"/>
            <a:ext cx="405975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 on stability and regulatory reporting; limited innovation bandwidth.</a:t>
            </a:r>
            <a:endParaRPr lang="en-US" sz="975" dirty="0"/>
          </a:p>
        </p:txBody>
      </p:sp>
      <p:sp>
        <p:nvSpPr>
          <p:cNvPr id="25" name="Shape 23"/>
          <p:cNvSpPr/>
          <p:nvPr/>
        </p:nvSpPr>
        <p:spPr>
          <a:xfrm>
            <a:off x="571500" y="3200400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00065" y="3157515"/>
            <a:ext cx="405975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Sequential delivery</a:t>
            </a:r>
            <a:endParaRPr lang="en-US" sz="1125" dirty="0"/>
          </a:p>
        </p:txBody>
      </p:sp>
      <p:sp>
        <p:nvSpPr>
          <p:cNvPr id="27" name="Text 25"/>
          <p:cNvSpPr/>
          <p:nvPr/>
        </p:nvSpPr>
        <p:spPr>
          <a:xfrm>
            <a:off x="700065" y="3286171"/>
            <a:ext cx="405975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initiative tracks in sequence; elongates policy pilots and analytics upgrades.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571500" y="3586185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00065" y="3543300"/>
            <a:ext cx="4059753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Deferred optimization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700065" y="3671865"/>
            <a:ext cx="4059753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 and resilience improvements shift beyond the 18-month window.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5045659" y="1328715"/>
            <a:ext cx="3684026" cy="2643165"/>
          </a:xfrm>
          <a:prstGeom prst="roundRect">
            <a:avLst>
              <a:gd name="adj" fmla="val 484328"/>
            </a:avLst>
          </a:prstGeom>
          <a:solidFill>
            <a:srgbClr val="FFFFFF"/>
          </a:solidFill>
          <a:ln w="12700">
            <a:solidFill>
              <a:srgbClr val="DDE5EF"/>
            </a:solidFill>
            <a:prstDash val="solid"/>
          </a:ln>
          <a:effectLst>
            <a:outerShdw sx="100000" sy="100000" kx="0" ky="0" algn="bl" rotWithShape="0" blurRad="88900" dist="1778" dir="5400000">
              <a:srgbClr val="000000">
                <a:alpha val="160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02753" y="1485900"/>
            <a:ext cx="3369747" cy="1857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Resource (Preferred)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202753" y="1700235"/>
            <a:ext cx="1571671" cy="242865"/>
          </a:xfrm>
          <a:prstGeom prst="roundRect">
            <a:avLst>
              <a:gd name="adj" fmla="val 7530109"/>
            </a:avLst>
          </a:prstGeom>
          <a:solidFill>
            <a:srgbClr val="FDF6E8"/>
          </a:solidFill>
          <a:ln w="12700">
            <a:solidFill>
              <a:srgbClr val="FDF6E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88524" y="1728765"/>
            <a:ext cx="142875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F531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 FTE · Data, Ops, Delivery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202753" y="1971721"/>
            <a:ext cx="1075609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88524" y="2057400"/>
            <a:ext cx="904159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288524" y="2243115"/>
            <a:ext cx="904159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~90%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6349868" y="1971721"/>
            <a:ext cx="1075609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35547" y="2057400"/>
            <a:ext cx="904159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BANDWIDTH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435547" y="2243115"/>
            <a:ext cx="904159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tracks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7496891" y="1971721"/>
            <a:ext cx="1075609" cy="685800"/>
          </a:xfrm>
          <a:prstGeom prst="roundRect">
            <a:avLst>
              <a:gd name="adj" fmla="val 1600000"/>
            </a:avLst>
          </a:prstGeom>
          <a:solidFill>
            <a:srgbClr val="F4F6F8"/>
          </a:solidFill>
          <a:ln w="12700">
            <a:solidFill>
              <a:srgbClr val="E1E7E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82571" y="2057400"/>
            <a:ext cx="904159" cy="1285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0" kern="0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POSTURE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582571" y="2243115"/>
            <a:ext cx="904159" cy="2572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Lower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5202753" y="2814615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31409" y="2771821"/>
            <a:ext cx="3241091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Parallel delivery</a:t>
            </a:r>
            <a:endParaRPr lang="en-US" sz="1125" dirty="0"/>
          </a:p>
        </p:txBody>
      </p:sp>
      <p:sp>
        <p:nvSpPr>
          <p:cNvPr id="46" name="Text 44"/>
          <p:cNvSpPr/>
          <p:nvPr/>
        </p:nvSpPr>
        <p:spPr>
          <a:xfrm>
            <a:off x="5331409" y="2900385"/>
            <a:ext cx="3241091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concurrent workstreams (policy pilots, data modernization, resiliency uplift) without sacrificing BAU.</a:t>
            </a:r>
            <a:endParaRPr lang="en-US" sz="975" dirty="0"/>
          </a:p>
        </p:txBody>
      </p:sp>
      <p:sp>
        <p:nvSpPr>
          <p:cNvPr id="47" name="Shape 45"/>
          <p:cNvSpPr/>
          <p:nvPr/>
        </p:nvSpPr>
        <p:spPr>
          <a:xfrm>
            <a:off x="5202753" y="3200400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331409" y="3157515"/>
            <a:ext cx="3241091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Faster regulatory readiness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5331409" y="3286171"/>
            <a:ext cx="3241091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Expedite compliance changes and scenario testing with embedded risk &amp; controls support.</a:t>
            </a:r>
            <a:endParaRPr lang="en-US" sz="975" dirty="0"/>
          </a:p>
        </p:txBody>
      </p:sp>
      <p:sp>
        <p:nvSpPr>
          <p:cNvPr id="50" name="Shape 48"/>
          <p:cNvSpPr/>
          <p:nvPr/>
        </p:nvSpPr>
        <p:spPr>
          <a:xfrm>
            <a:off x="5202753" y="3586185"/>
            <a:ext cx="71415" cy="71415"/>
          </a:xfrm>
          <a:prstGeom prst="ellipse">
            <a:avLst/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63500" dist="762" dir="5400000">
              <a:srgbClr val="000000">
                <a:alpha val="2600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331409" y="3543300"/>
            <a:ext cx="3241091" cy="1571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5" b="1" dirty="0">
                <a:solidFill>
                  <a:srgbClr val="0F243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&amp; automation gains</a:t>
            </a:r>
            <a:endParaRPr lang="en-US" sz="1125" dirty="0"/>
          </a:p>
        </p:txBody>
      </p:sp>
      <p:sp>
        <p:nvSpPr>
          <p:cNvPr id="52" name="Text 50"/>
          <p:cNvSpPr/>
          <p:nvPr/>
        </p:nvSpPr>
        <p:spPr>
          <a:xfrm>
            <a:off x="5331409" y="3671865"/>
            <a:ext cx="3241091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4A5C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 prioritized automations, observability, and analytics that reduce manual effort and downtime.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14315" y="4100535"/>
            <a:ext cx="8315371" cy="685800"/>
          </a:xfrm>
          <a:prstGeom prst="roundRect">
            <a:avLst>
              <a:gd name="adj" fmla="val 1866667"/>
            </a:avLst>
          </a:prstGeom>
          <a:solidFill>
            <a:srgbClr val="0F2439"/>
          </a:solidFill>
          <a:ln w="12700">
            <a:solidFill>
              <a:srgbClr val="0F2439"/>
            </a:solidFill>
            <a:prstDash val="solid"/>
          </a:ln>
          <a:effectLst>
            <a:outerShdw sx="100000" sy="100000" kx="0" ky="0" algn="bl" rotWithShape="0" blurRad="88900" dist="2032" dir="5400000">
              <a:srgbClr val="000000">
                <a:alpha val="220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528615" y="4200571"/>
            <a:ext cx="342900" cy="342900"/>
          </a:xfrm>
          <a:prstGeom prst="roundRect">
            <a:avLst>
              <a:gd name="adj" fmla="val 3200000"/>
            </a:avLst>
          </a:prstGeom>
          <a:solidFill>
            <a:srgbClr val="FFFFFF">
              <a:alpha val="22000"/>
            </a:srgbClr>
          </a:solidFill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28650" y="4243365"/>
            <a:ext cx="128565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★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957285" y="4186215"/>
            <a:ext cx="4989149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Approve +3 FTE for 18 months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957285" y="4357665"/>
            <a:ext cx="4989149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75" dirty="0">
                <a:solidFill>
                  <a:srgbClr val="D5E2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Enables four concurrent tracks, accelerates policy pilots, and reduces operational risk while safeguarding BAU.</a:t>
            </a:r>
            <a:endParaRPr lang="en-US" sz="975" dirty="0"/>
          </a:p>
        </p:txBody>
      </p:sp>
      <p:sp>
        <p:nvSpPr>
          <p:cNvPr id="58" name="Shape 56"/>
          <p:cNvSpPr/>
          <p:nvPr/>
        </p:nvSpPr>
        <p:spPr>
          <a:xfrm>
            <a:off x="7229521" y="4214835"/>
            <a:ext cx="1385865" cy="328635"/>
          </a:xfrm>
          <a:prstGeom prst="roundRect">
            <a:avLst>
              <a:gd name="adj" fmla="val 3338902"/>
            </a:avLst>
          </a:prstGeom>
          <a:solidFill>
            <a:srgbClr val="E1B44C"/>
          </a:solidFill>
          <a:ln w="12700">
            <a:solidFill>
              <a:srgbClr val="E1B44C"/>
            </a:solidFill>
            <a:prstDash val="solid"/>
          </a:ln>
          <a:effectLst>
            <a:outerShdw sx="100000" sy="100000" kx="0" ky="0" algn="bl" rotWithShape="0" blurRad="88900" dist="2540" dir="5400000">
              <a:srgbClr val="000000">
                <a:alpha val="3200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7372350" y="4257721"/>
            <a:ext cx="1143000" cy="2000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16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 with Preferred Plan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2026-01-07T03:52:05Z</dcterms:created>
  <dcterms:modified xsi:type="dcterms:W3CDTF">2026-01-07T03:52:05Z</dcterms:modified>
</cp:coreProperties>
</file>