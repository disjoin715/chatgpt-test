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AGENDA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Industrialising AI in a Central Bank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move from pilots to trusted, reusable production capability.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Adoption @ HKMA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&amp; mandate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HKMA mandate—and why industrialising AI is harder than in the private sector.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pilot to production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cases, scale enablers, and what “industrialised” looks like.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&amp; governance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Repeatable controls to deploy safely and stay audit-ready.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18613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" y="327181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71621" y="321466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Architecture, adoption, lessons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71621" y="337185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stack, democratised innovation, and practical takeaways.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Clarity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Momentum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ALIGN ON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standardise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platforms and patterns vs bespoke builds.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differentiate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Mission-critical use cases that merit deeper investment.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govern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that enable teams while keeping risk visible and managed.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Goal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 pragmatic path to scale AI responsibly across HKMA.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HKMA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Mandate + Reality Check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AI ambition—delivered under different constraints.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Trust First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HKMA MANDATE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Monetary &amp; financial stability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 stability and resilience across the system.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system supervision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Supervise parts of the financial system and market conduct.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the Exchange Fund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 operations with strong controls and accountability.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Stability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Accountable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IT’S HARDER HERE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3543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13543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5699272" y="175738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Risk-averse environment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99272" y="1914571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tolerance for model errors and uncontrolled behaviour.</a:t>
            </a:r>
            <a:endParaRPr lang="en-US" sz="975" dirty="0"/>
          </a:p>
        </p:txBody>
      </p:sp>
      <p:sp>
        <p:nvSpPr>
          <p:cNvPr id="38" name="Shape 36"/>
          <p:cNvSpPr/>
          <p:nvPr/>
        </p:nvSpPr>
        <p:spPr>
          <a:xfrm>
            <a:off x="5213543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213543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5699272" y="224311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Sensitive data + secrecy laws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699272" y="2400300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confidentiality, access controls, and data minimisation.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5213543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213543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5699272" y="272893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tech + complex governance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699272" y="2886121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constraints, multi-layer approvals, shared ownership.</a:t>
            </a:r>
            <a:endParaRPr lang="en-US" sz="975" dirty="0"/>
          </a:p>
        </p:txBody>
      </p:sp>
      <p:sp>
        <p:nvSpPr>
          <p:cNvPr id="46" name="Shape 44"/>
          <p:cNvSpPr/>
          <p:nvPr/>
        </p:nvSpPr>
        <p:spPr>
          <a:xfrm>
            <a:off x="5213543" y="318613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213543" y="327181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5699272" y="321466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Walk the talk (reputation)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99272" y="3371850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Public-facing credibility requires consistent, explainable practices.</a:t>
            </a:r>
            <a:endParaRPr lang="en-US" sz="975" dirty="0"/>
          </a:p>
        </p:txBody>
      </p:sp>
      <p:sp>
        <p:nvSpPr>
          <p:cNvPr id="50" name="Shape 48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Implication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need more “industrial plumbing” than pilots: platforms, patterns, and guardrails.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 BANK AI STRATEGY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Pilot to Production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Trusted, resilient AI for policy, supervision, and market operations.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Priorities 2024–2026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 USE CASES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Macro-financial intelligence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testing · systemic risk · liquidity signals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Supervisory early warning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Outlier detection · conduct monitoring · alerts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excellence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copilots · reporting · translation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FORESIGHT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ENABLES SCALE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RISK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MLOPS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sources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Lineage and access aligned with confidentiality.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by design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explainability, and human oversight.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resilience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Monitoring, drift response, and auditability.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Priority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Institutionalise governance and invest in the data backbone to scale AI with confidence.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&amp; GOVERNANCE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Discipline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repeatable model for trusted deployment, measurement, and audit readiness.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Policy-Compliant AI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8115300" cy="3328965"/>
          </a:xfrm>
          <a:prstGeom prst="roundRect">
            <a:avLst>
              <a:gd name="adj" fmla="val 3862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7772400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LIFECYCLE (VISUAL)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71650"/>
            <a:ext cx="1846631" cy="1000171"/>
          </a:xfrm>
          <a:prstGeom prst="roundRect">
            <a:avLst>
              <a:gd name="adj" fmla="val 12854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4365" y="1900215"/>
            <a:ext cx="400050" cy="400050"/>
          </a:xfrm>
          <a:prstGeom prst="roundRect">
            <a:avLst>
              <a:gd name="adj" fmla="val 32137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365" y="2000250"/>
            <a:ext cx="4000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4365" y="2343150"/>
            <a:ext cx="15895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4365" y="2514600"/>
            <a:ext cx="1589502" cy="242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fit · data readiness · value &amp; risk sizing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2496769" y="2157435"/>
            <a:ext cx="20007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2661087" y="1771650"/>
            <a:ext cx="1846631" cy="1000171"/>
          </a:xfrm>
          <a:prstGeom prst="roundRect">
            <a:avLst>
              <a:gd name="adj" fmla="val 12854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89652" y="1900215"/>
            <a:ext cx="400050" cy="400050"/>
          </a:xfrm>
          <a:prstGeom prst="roundRect">
            <a:avLst>
              <a:gd name="adj" fmla="val 32137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9652" y="2000250"/>
            <a:ext cx="4000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89652" y="2343150"/>
            <a:ext cx="15895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9652" y="2514600"/>
            <a:ext cx="1589502" cy="242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· model risk · explainability · approvals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471965" y="2157435"/>
            <a:ext cx="20007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4636282" y="1771650"/>
            <a:ext cx="1846631" cy="1000171"/>
          </a:xfrm>
          <a:prstGeom prst="roundRect">
            <a:avLst>
              <a:gd name="adj" fmla="val 12854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64847" y="1900215"/>
            <a:ext cx="400050" cy="400050"/>
          </a:xfrm>
          <a:prstGeom prst="roundRect">
            <a:avLst>
              <a:gd name="adj" fmla="val 32137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64847" y="2000250"/>
            <a:ext cx="4000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64847" y="2343150"/>
            <a:ext cx="15895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64847" y="2514600"/>
            <a:ext cx="1589502" cy="242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release · guardrails · access controls · rollout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6447252" y="2157435"/>
            <a:ext cx="20007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6611569" y="1771650"/>
            <a:ext cx="1846631" cy="1000171"/>
          </a:xfrm>
          <a:prstGeom prst="roundRect">
            <a:avLst>
              <a:gd name="adj" fmla="val 12854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0134" y="1900215"/>
            <a:ext cx="400050" cy="400050"/>
          </a:xfrm>
          <a:prstGeom prst="roundRect">
            <a:avLst>
              <a:gd name="adj" fmla="val 32137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0134" y="2000250"/>
            <a:ext cx="4000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40134" y="2343150"/>
            <a:ext cx="15895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40134" y="2514600"/>
            <a:ext cx="1589502" cy="242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Logging · drift · incidents · continuous improvement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685800" y="4043385"/>
            <a:ext cx="2533620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2950" y="4100535"/>
            <a:ext cx="241932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42950" y="4286250"/>
            <a:ext cx="2419320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305190" y="4043385"/>
            <a:ext cx="2533620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62340" y="4100535"/>
            <a:ext cx="241932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362340" y="4286250"/>
            <a:ext cx="2419320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24580" y="4043385"/>
            <a:ext cx="2533620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1730" y="4100535"/>
            <a:ext cx="241932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981730" y="4286250"/>
            <a:ext cx="2419320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Stack (Bottom → Top)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Industrial plumbing: reusable layers + cross-cutting security.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by Design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LAYERS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 / compute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GPU pools, container runtime, scalable inference capacity.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platform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Catalog, lineage, curated datasets, governed access.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factory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MLOps, vector DB, evaluation, model serving, prompt/policy management.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18613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" y="327181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71621" y="321466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applications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71621" y="337185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Copilots, analytics, automation—built on shared APIs and patterns.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(CROSS-CUTTING)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guardrails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Content filtering, tool permissions, safe prompting patterns.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Logging + monitoring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Telemetry, audit logs, drift/abuse detection, performance SLOs.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+ entitlement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RBAC/ABAC, secrets management, environment segregation.</a:t>
            </a:r>
            <a:endParaRPr lang="en-US" sz="975" dirty="0"/>
          </a:p>
        </p:txBody>
      </p:sp>
      <p:sp>
        <p:nvSpPr>
          <p:cNvPr id="47" name="Shape 45"/>
          <p:cNvSpPr/>
          <p:nvPr/>
        </p:nvSpPr>
        <p:spPr>
          <a:xfrm>
            <a:off x="5213543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70693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270693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23625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0775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380775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33798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0948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7490948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Principle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Standardise the stack, then let teams innovate on top with reusable blocks.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AT SCALE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Democratised Innovation (with Guardrails)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domain teams to build—while keeping risk visible, owned, and managed.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Delivery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squads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teams co-create with an AI enablement function (CoE / platform team).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ownership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owns outcomes; IT owns platforms; risk partners early and continuously.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by default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Templates, approved tools, and controls embedded in the delivery pipeline.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ENABLERS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platforms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data products, model libraries, and APIs.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library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implementations: RAG, evaluation, approval flows.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Capability uplift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briefings, analyst academies, role-based training.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5213543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70693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5270693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23625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80775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80775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33798" y="3314700"/>
            <a:ext cx="1024402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0948" y="3371850"/>
            <a:ext cx="91010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7490948" y="3557565"/>
            <a:ext cx="910102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Message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safe path the easiest path—then teams will scale innovation naturally.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LEARNED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Learned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Pragmatic lessons across technology, organisation, and risk &amp; governance.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Practical Takeaways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small, opinionated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tight default stack; reduce onboarding and cognitive load.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platform sprawl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platforms, clear ownership, explicit deprecation paths.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reusability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 in platforms and patternising (templates, libraries, reference apps).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ORGANISATION + GOVERNANCE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213543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213543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699272" y="175738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+ IT together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99272" y="1914571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collaboration from framing to operations; shared KPIs.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5213543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213543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5699272" y="224311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Incentivise reuse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99272" y="2400300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Reward adoption of common components over bespoke builds.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5213543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213543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5699272" y="2728935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as a carrot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99272" y="2886121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 innovation with risk; educate users on responsibilities and imperfections.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Closing Note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AI is an organisational change program—technology is necessary but not sufficient.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Pilot to Production: Industrialising AI in a Central Bank</dc:title>
  <dc:subject>PptxGenJS Presentation</dc:subject>
  <dc:creator>Central Bank AI Strategy</dc:creator>
  <cp:lastModifiedBy>Central Bank AI Strategy</cp:lastModifiedBy>
  <cp:revision>1</cp:revision>
  <dcterms:created xsi:type="dcterms:W3CDTF">2026-01-12T06:08:32Z</dcterms:created>
  <dcterms:modified xsi:type="dcterms:W3CDTF">2026-01-12T06:08:32Z</dcterms:modified>
</cp:coreProperties>
</file>