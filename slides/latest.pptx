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Industrialising AI in a Central Bank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move from pilots to trusted, reusable production capability.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Adoption @ HKMA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&amp; mandate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HKMA mandate—and why industrialising AI is harder than in the private sector.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pilot to production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cases, scale enablers, and what “industrialised” looks like.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&amp; governance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 controls to deploy safely and stay audit-ready.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5800" y="318613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27181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1621" y="321466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adoption, lessons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1621" y="337185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stack, democratised innovation, and practical takeaways.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85800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950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2950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61698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18848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118848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37595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4745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Momentum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494745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ALIGN ON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213543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0693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3625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0775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33798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0948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3543" y="205740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13543" y="214317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5699272" y="208602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standardise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99272" y="224311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platforms and patterns vs bespoke builds.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5213543" y="2543221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3543" y="2628900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5699272" y="2571750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differentiate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99272" y="272893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Mission-critical use cases that merit deeper investment.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5213543" y="302895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13543" y="311472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5699272" y="305757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govern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699272" y="321466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that enable teams while keeping risk visible and managed.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Goal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a pragmatic path to scale AI responsibly across HKMA.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HKMA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+ Reality Check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AI ambition—delivered under different constraints.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Trust First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HKMA MANDATE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Monetary &amp; financial stability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stability and resilience across the system.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system supervision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 parts of the financial system and market conduct.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Exchange Fund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operations with strong controls and accountability.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5800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950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61698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18848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18848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37595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4745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Accountable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94745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IT’S HARDER HERE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213543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13543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5699272" y="175738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Risk-averse environment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99272" y="1914571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tolerance for model errors and uncontrolled behaviour.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5213543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213543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5699272" y="224311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data + secrecy laws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99272" y="2400300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confidentiality, access controls, and data minimisation.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5213543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213543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5699272" y="272893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tech + complex governance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99272" y="2886121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constraints, multi-layer approvals, shared ownership.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5213543" y="318613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213543" y="327181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5699272" y="321466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the talk (reputation)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99272" y="3371850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Public-facing credibility requires consistent, explainable practices.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Implication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need more “industrial plumbing” than pilots: platforms, patterns, and guardrails.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BANK AI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Pilot to Production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Trusted, resilient AI for policy, supervision, and market operations.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Priorities 2024–2026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USE CASES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Macro-financial intelligence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testing · systemic risk · liquidity signals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Supervisory early warning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detection · conduct monitoring · alerts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copilots · reporting · translation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5800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950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FORESIGHT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61698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18848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18848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37595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4745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94745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ENABLES SCALE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213543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70693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3625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0775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RISK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33798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0948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MLOPS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3543" y="205740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13543" y="214317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5699272" y="208602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sources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99272" y="224311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Lineage and access aligned with confidentiality.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213543" y="2543221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13543" y="2628900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5699272" y="2571750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by design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99272" y="272893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explainability, and human oversight.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5213543" y="302895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3543" y="311472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5699272" y="305757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resilience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99272" y="321466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Monitoring, drift response, and auditability.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Priority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Institutionalise governance and invest in the data backbone to scale AI with confidence.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&amp;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Discipline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repeatable model for trusted deployment, measurement, and audit readiness.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Policy-Compliant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3986235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3643335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LIFECYCLE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835853" cy="642915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587" y="1800271"/>
            <a:ext cx="314371" cy="314371"/>
          </a:xfrm>
          <a:prstGeom prst="roundRect">
            <a:avLst>
              <a:gd name="adj" fmla="val 31821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587" y="1871685"/>
            <a:ext cx="314371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4421" y="2128815"/>
            <a:ext cx="77870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14421" y="2243115"/>
            <a:ext cx="778703" cy="10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fit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1597" y="1728765"/>
            <a:ext cx="835853" cy="642915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82384" y="1800271"/>
            <a:ext cx="314371" cy="314371"/>
          </a:xfrm>
          <a:prstGeom prst="roundRect">
            <a:avLst>
              <a:gd name="adj" fmla="val 31821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2384" y="1871685"/>
            <a:ext cx="314371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50218" y="2128815"/>
            <a:ext cx="77870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650218" y="2243115"/>
            <a:ext cx="778703" cy="10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risk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57485" y="1728765"/>
            <a:ext cx="835853" cy="642915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18181" y="1800271"/>
            <a:ext cx="314371" cy="314371"/>
          </a:xfrm>
          <a:prstGeom prst="roundRect">
            <a:avLst>
              <a:gd name="adj" fmla="val 31821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8181" y="1871685"/>
            <a:ext cx="314371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86015" y="2128815"/>
            <a:ext cx="77870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586015" y="2243115"/>
            <a:ext cx="778703" cy="10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release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93282" y="1728765"/>
            <a:ext cx="835853" cy="642915"/>
          </a:xfrm>
          <a:prstGeom prst="roundRect">
            <a:avLst>
              <a:gd name="adj" fmla="val 17778"/>
            </a:avLst>
          </a:prstGeom>
          <a:solidFill>
            <a:srgbClr val="F7F9FC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54069" y="1800271"/>
            <a:ext cx="314371" cy="314371"/>
          </a:xfrm>
          <a:prstGeom prst="roundRect">
            <a:avLst>
              <a:gd name="adj" fmla="val 31821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54069" y="1871685"/>
            <a:ext cx="314371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21903" y="2128815"/>
            <a:ext cx="778703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521903" y="2243115"/>
            <a:ext cx="778703" cy="1000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ready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2950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2950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DESIGN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8835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85985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985985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RELEASE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71871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29021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229021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3415" y="1357335"/>
            <a:ext cx="3986235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14865" y="1528785"/>
            <a:ext cx="3643335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FOR PRODUCTION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814865" y="1728765"/>
            <a:ext cx="1157265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2015" y="1771650"/>
            <a:ext cx="1042965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57900" y="1728765"/>
            <a:ext cx="1157265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5050" y="1771650"/>
            <a:ext cx="1042965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00935" y="1728765"/>
            <a:ext cx="1157265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58085" y="1771650"/>
            <a:ext cx="1042965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OVERSIGHT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14865" y="205740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14865" y="214317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5300685" y="2086021"/>
            <a:ext cx="3157515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validation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0685" y="2243115"/>
            <a:ext cx="3157515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explainability, and approval checkpoints for material use cases.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4814865" y="2543221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14865" y="2628900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5300685" y="2571750"/>
            <a:ext cx="3157515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+ data controls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0685" y="2728935"/>
            <a:ext cx="3157515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Least privilege, data minimisation, and confidential patterns where needed.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4814865" y="302895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14865" y="311472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5300685" y="3057571"/>
            <a:ext cx="3157515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+ audit trail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00685" y="3214665"/>
            <a:ext cx="3157515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Prompt/output logging, drift detection, and incident playbooks.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4814865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2015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872015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57900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5050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6115050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OVERSIGHT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00935" y="3314700"/>
            <a:ext cx="1157265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58085" y="3371850"/>
            <a:ext cx="104296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7358085" y="3557565"/>
            <a:ext cx="1042965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Close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 discipline creates the safety and evidence base needed for scale.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Stack (Bottom → Top)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 plumbing: reusable layers + cross-cutting security.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by Design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LAYERS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/ compute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pools, container runtime, scalable inference capacity.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Catalog, lineage, curated datasets, governed access.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factory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MLOps, vector DB, evaluation, model serving, prompt/policy management.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5800" y="318613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27181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71621" y="321466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applications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1621" y="337185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Copilots, analytics, automation—built on shared APIs and patterns.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(CROSS-CUTTING)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213543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0693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23625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0775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33798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0948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3543" y="205740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3543" y="214317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5699272" y="208602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guardrails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99272" y="224311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filtering, tool permissions, safe prompting patterns.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5213543" y="2543221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13543" y="2628900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5699272" y="2571750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+ monitoring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99272" y="272893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Telemetry, audit logs, drift/abuse detection, performance SLOs.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5213543" y="302895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3543" y="311472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◍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5699272" y="305757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+ entitlement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699272" y="321466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RBAC/ABAC, secrets management, environment segregation.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5213543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70693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270693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23625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0775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380775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33798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0948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490948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Standardise the stack, then let teams innovate on top with reusable blocks.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AT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Democratised Innovation (with Guardrails)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domain teams to build—while keeping risk visible, owned, and managed.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Delivery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MODEL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squads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teams co-create with an AI enablement function (CoE / platform team).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ownership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owns outcomes; IT owns platforms; risk partners early and continuously.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by default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Templates, approved tools, and controls embedded in the delivery pipeline.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685800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950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950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61698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18848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18848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37595" y="3314700"/>
            <a:ext cx="1290127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4745" y="3371850"/>
            <a:ext cx="1175827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94745" y="3557565"/>
            <a:ext cx="1175827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ENABLERS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213543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70693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3625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0775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33798" y="1728765"/>
            <a:ext cx="1024402" cy="228600"/>
          </a:xfrm>
          <a:prstGeom prst="roundRect">
            <a:avLst>
              <a:gd name="adj" fmla="val 625000"/>
            </a:avLst>
          </a:prstGeom>
          <a:solidFill>
            <a:srgbClr val="FDF6E8"/>
          </a:solidFill>
          <a:ln w="12700">
            <a:solidFill>
              <a:srgbClr val="FDF6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0948" y="1771650"/>
            <a:ext cx="910102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6F5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3543" y="205740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13543" y="214317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5699272" y="208602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platforms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99272" y="224311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data products, model libraries, and APIs.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213543" y="2543221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213543" y="2628900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5699272" y="2571750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library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699272" y="272893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implementations: RAG, evaluation, approval flows.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5213543" y="3028950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3543" y="3114721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5699272" y="3057571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uplift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99272" y="3214665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briefings, analyst academies, role-based training.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5213543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70693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270693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23625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0775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380775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33798" y="3314700"/>
            <a:ext cx="1024402" cy="414315"/>
          </a:xfrm>
          <a:prstGeom prst="roundRect">
            <a:avLst>
              <a:gd name="adj" fmla="val 27588"/>
            </a:avLst>
          </a:prstGeom>
          <a:solidFill>
            <a:srgbClr val="F4F6F8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0948" y="3371850"/>
            <a:ext cx="910102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7490948" y="3557565"/>
            <a:ext cx="910102" cy="128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Message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safe path the easiest path—then teams will scale innovation naturally.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439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hape 0"/>
          <p:cNvSpPr/>
          <p:nvPr/>
        </p:nvSpPr>
        <p:spPr>
          <a:xfrm>
            <a:off x="200071" y="171450"/>
            <a:ext cx="8743950" cy="4800600"/>
          </a:xfrm>
          <a:prstGeom prst="roundRect">
            <a:avLst>
              <a:gd name="adj" fmla="val 3869"/>
            </a:avLst>
          </a:prstGeom>
          <a:solidFill>
            <a:srgbClr val="F9FBFF"/>
          </a:solidFill>
          <a:ln w="12700">
            <a:solidFill>
              <a:srgbClr val="DCE3ED"/>
            </a:solidFill>
            <a:prstDash val="solid"/>
          </a:ln>
          <a:effectLst>
            <a:outerShdw sx="100000" sy="100000" kx="0" ky="0" algn="bl" rotWithShape="0" blurRad="152400" dist="3810" dir="5400000">
              <a:srgbClr val="000000">
                <a:alpha val="2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14350" y="457200"/>
            <a:ext cx="5843016" cy="1429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20" kern="0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LEARNED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4350" y="614385"/>
            <a:ext cx="5843016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Lessons Learned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14350" y="928665"/>
            <a:ext cx="5843016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Pragmatic lessons across technology, organisation, and risk &amp; governance.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6772321" y="500085"/>
            <a:ext cx="1785915" cy="342900"/>
          </a:xfrm>
          <a:prstGeom prst="roundRect">
            <a:avLst>
              <a:gd name="adj" fmla="val 29173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88900" dist="1905" dir="54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72356" y="628650"/>
            <a:ext cx="85771" cy="85771"/>
          </a:xfrm>
          <a:prstGeom prst="ellipse">
            <a:avLst/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50800" dist="254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15185" y="585856"/>
            <a:ext cx="147154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Takeaways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4350" y="1357335"/>
            <a:ext cx="4384822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528785"/>
            <a:ext cx="4041922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71621" y="175738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small, opinionated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1621" y="191457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tight default stack; reduce onboarding and cognitive load.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685800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71621" y="224311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platform sprawl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1621" y="2400300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platforms, clear ownership, explicit deprecation paths.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85800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◈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621" y="2728935"/>
            <a:ext cx="3556193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reusability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1621" y="2886121"/>
            <a:ext cx="3556193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 in platforms and patternising (templates, libraries, reference apps).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5042093" y="1357335"/>
            <a:ext cx="3587557" cy="2600371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3543" y="1528785"/>
            <a:ext cx="3244657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30" kern="0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 + GOVERNANCE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213543" y="172876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13543" y="181453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◎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699272" y="175738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+ IT together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99272" y="1914571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collaboration from framing to operations; shared KPIs.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5213543" y="221458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3543" y="230026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699272" y="224311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Incentivise reuse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99272" y="2400300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Reward adoption of common components over bespoke builds.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5213543" y="2700315"/>
            <a:ext cx="385785" cy="385785"/>
          </a:xfrm>
          <a:prstGeom prst="roundRect">
            <a:avLst>
              <a:gd name="adj" fmla="val 29628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  <a:effectLst>
            <a:outerShdw sx="100000" sy="100000" kx="0" ky="0" algn="bl" rotWithShape="0" blurRad="76200" dist="1270" dir="54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213543" y="2786085"/>
            <a:ext cx="385785" cy="2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699272" y="2728935"/>
            <a:ext cx="2758928" cy="1571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4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as a carrot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99272" y="2886121"/>
            <a:ext cx="2758928" cy="271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5" dirty="0">
                <a:solidFill>
                  <a:srgbClr val="4A5C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innovation with risk; educate users on responsibilities and imperfections.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514350" y="4143421"/>
            <a:ext cx="8115300" cy="542971"/>
          </a:xfrm>
          <a:prstGeom prst="roundRect">
            <a:avLst>
              <a:gd name="adj" fmla="val 23678"/>
            </a:avLst>
          </a:prstGeom>
          <a:solidFill>
            <a:srgbClr val="0F2439"/>
          </a:solidFill>
          <a:ln w="12700">
            <a:solidFill>
              <a:srgbClr val="0F2439"/>
            </a:solidFill>
            <a:prstDash val="solid"/>
          </a:ln>
          <a:effectLst>
            <a:outerShdw sx="100000" sy="100000" kx="0" ky="0" algn="bl" rotWithShape="0" blurRad="101600" dist="1905" dir="5400000">
              <a:srgbClr val="000000">
                <a:alpha val="2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2915" y="4243365"/>
            <a:ext cx="342900" cy="342900"/>
          </a:xfrm>
          <a:prstGeom prst="roundRect">
            <a:avLst>
              <a:gd name="adj" fmla="val 2917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915" y="4286250"/>
            <a:ext cx="342900" cy="2572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085850" y="4229100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Note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85850" y="4414815"/>
            <a:ext cx="486918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AI is an organisational change program—technology is necessary but not sufficient.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00985" y="4271985"/>
            <a:ext cx="785835" cy="285750"/>
          </a:xfrm>
          <a:prstGeom prst="roundRect">
            <a:avLst>
              <a:gd name="adj" fmla="val 30016"/>
            </a:avLst>
          </a:prstGeom>
          <a:solidFill>
            <a:srgbClr val="E1B44C"/>
          </a:solidFill>
          <a:ln w="12700">
            <a:solidFill>
              <a:srgbClr val="E1B44C"/>
            </a:solidFill>
            <a:prstDash val="solid"/>
          </a:ln>
          <a:effectLst>
            <a:outerShdw sx="100000" sy="100000" kx="0" ky="0" algn="bl" rotWithShape="0" blurRad="76200" dist="1905" dir="54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36647" y="4314871"/>
            <a:ext cx="714421" cy="20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" kern="0" dirty="0">
                <a:solidFill>
                  <a:srgbClr val="1F16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Pilot to Production: Industrialising AI in a Central Bank</dc:title>
  <dc:subject>PptxGenJS Presentation</dc:subject>
  <dc:creator>Central Bank AI Strategy</dc:creator>
  <cp:lastModifiedBy>Central Bank AI Strategy</cp:lastModifiedBy>
  <cp:revision>1</cp:revision>
  <dcterms:created xsi:type="dcterms:W3CDTF">2026-01-12T05:41:47Z</dcterms:created>
  <dcterms:modified xsi:type="dcterms:W3CDTF">2026-01-12T05:41:47Z</dcterms:modified>
</cp:coreProperties>
</file>