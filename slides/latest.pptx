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 BANK AI STRATEGY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Pilot to Production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Trusted, resilient AI for policy, supervision, and market operations.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Priorities 2024–2026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4384822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4041922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 USE CASES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71621" y="175738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Macro-financial intelligence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1621" y="191457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testing · systemic risk · liquidity signals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685800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71621" y="224311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Supervisory early warning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1621" y="2400300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Outlier detection · conduct monitoring · alerts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71621" y="2728935"/>
            <a:ext cx="355619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excellence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1621" y="2886121"/>
            <a:ext cx="3556193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copilots · reporting · translation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685800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2950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950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FORESIGHT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061698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18848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118848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37595" y="3314700"/>
            <a:ext cx="1290127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4745" y="3371850"/>
            <a:ext cx="1175827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494745" y="3557565"/>
            <a:ext cx="1175827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42093" y="1357335"/>
            <a:ext cx="3587557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213543" y="1528785"/>
            <a:ext cx="3244657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ENABLES SCALE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3543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70693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TRUSTED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625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0775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RISK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33798" y="1728765"/>
            <a:ext cx="1024402" cy="228600"/>
          </a:xfrm>
          <a:prstGeom prst="roundRect">
            <a:avLst>
              <a:gd name="adj" fmla="val 625000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0948" y="1771650"/>
            <a:ext cx="910102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MLOPS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213543" y="205740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213543" y="214317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◍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5699272" y="208602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sources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99272" y="224311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Lineage and access aligned with confidentiality.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213543" y="2543221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213543" y="2628900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5699272" y="2571750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by design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99272" y="272893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explainability, and human oversight.</a:t>
            </a:r>
            <a:endParaRPr lang="en-US" sz="975" dirty="0"/>
          </a:p>
        </p:txBody>
      </p:sp>
      <p:sp>
        <p:nvSpPr>
          <p:cNvPr id="48" name="Shape 46"/>
          <p:cNvSpPr/>
          <p:nvPr/>
        </p:nvSpPr>
        <p:spPr>
          <a:xfrm>
            <a:off x="5213543" y="3028950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3543" y="3114721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⬡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5699272" y="3057571"/>
            <a:ext cx="2758928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resilience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99272" y="3214665"/>
            <a:ext cx="2758928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Monitoring, drift response, and auditability.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Priority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Institutionalise governance and invest in the data backbone to scale AI with confidence.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3869"/>
            </a:avLst>
          </a:prstGeom>
          <a:solidFill>
            <a:srgbClr val="F9FBFF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52400" dist="3810" dir="5400000">
              <a:srgbClr val="000000">
                <a:alpha val="2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14350" y="457200"/>
            <a:ext cx="5843016" cy="14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&amp; GOVERNANCE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14350" y="614385"/>
            <a:ext cx="584301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 Discipline + Democratized Innovation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50" y="928665"/>
            <a:ext cx="5843016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repeatable model for trusted deployment and enterprise adoption.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772321" y="500085"/>
            <a:ext cx="1785915" cy="342900"/>
          </a:xfrm>
          <a:prstGeom prst="roundRect">
            <a:avLst>
              <a:gd name="adj" fmla="val 29173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1905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72356" y="628650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50800" dist="254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15185" y="585856"/>
            <a:ext cx="1471544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Policy-Compliant AI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4350" y="1357335"/>
            <a:ext cx="3986235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528785"/>
            <a:ext cx="364333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LIFECYCLE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587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6587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4421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Qualify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714421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fit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21597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82384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82384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50218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1650218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risk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57485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18181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8181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586015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2586015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release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3282" y="1728765"/>
            <a:ext cx="835853" cy="642915"/>
          </a:xfrm>
          <a:prstGeom prst="roundRect">
            <a:avLst>
              <a:gd name="adj" fmla="val 17778"/>
            </a:avLst>
          </a:prstGeom>
          <a:solidFill>
            <a:srgbClr val="F7F9FC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54069" y="1800271"/>
            <a:ext cx="314371" cy="314371"/>
          </a:xfrm>
          <a:prstGeom prst="roundRect">
            <a:avLst>
              <a:gd name="adj" fmla="val 31821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54069" y="1871685"/>
            <a:ext cx="314371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21903" y="2128815"/>
            <a:ext cx="778703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3521903" y="2243115"/>
            <a:ext cx="778703" cy="100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ready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2950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42950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DESIGN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928835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85985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85985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71871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29021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229021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43415" y="1357335"/>
            <a:ext cx="3986235" cy="2600371"/>
          </a:xfrm>
          <a:prstGeom prst="roundRect">
            <a:avLst>
              <a:gd name="adj" fmla="val 4944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814865" y="1528785"/>
            <a:ext cx="364333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30" kern="0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DEMOCRATIZE INNOVATION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4814865" y="172876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814865" y="181453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◎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5300685" y="1757385"/>
            <a:ext cx="315751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Federated squads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300685" y="1914571"/>
            <a:ext cx="3157515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teams co-create with the AI center of excellence.</a:t>
            </a:r>
            <a:endParaRPr lang="en-US" sz="975" dirty="0"/>
          </a:p>
        </p:txBody>
      </p:sp>
      <p:sp>
        <p:nvSpPr>
          <p:cNvPr id="46" name="Shape 44"/>
          <p:cNvSpPr/>
          <p:nvPr/>
        </p:nvSpPr>
        <p:spPr>
          <a:xfrm>
            <a:off x="4814865" y="221458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814865" y="230026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5300685" y="2243115"/>
            <a:ext cx="315751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platforms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0685" y="2400300"/>
            <a:ext cx="3157515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data products, model libraries, and APIs.</a:t>
            </a:r>
            <a:endParaRPr lang="en-US" sz="975" dirty="0"/>
          </a:p>
        </p:txBody>
      </p:sp>
      <p:sp>
        <p:nvSpPr>
          <p:cNvPr id="50" name="Shape 48"/>
          <p:cNvSpPr/>
          <p:nvPr/>
        </p:nvSpPr>
        <p:spPr>
          <a:xfrm>
            <a:off x="4814865" y="2700315"/>
            <a:ext cx="385785" cy="385785"/>
          </a:xfrm>
          <a:prstGeom prst="roundRect">
            <a:avLst>
              <a:gd name="adj" fmla="val 29628"/>
            </a:avLst>
          </a:prstGeom>
          <a:solidFill>
            <a:srgbClr val="17395C"/>
          </a:solidFill>
          <a:ln w="12700">
            <a:solidFill>
              <a:srgbClr val="17395C"/>
            </a:solidFill>
            <a:prstDash val="solid"/>
          </a:ln>
          <a:effectLst>
            <a:outerShdw sx="100000" sy="100000" kx="0" ky="0" algn="bl" rotWithShape="0" blurRad="76200" dist="1270" dir="5400000">
              <a:srgbClr val="000000">
                <a:alpha val="3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14865" y="2786085"/>
            <a:ext cx="385785" cy="214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◈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5300685" y="2728935"/>
            <a:ext cx="3157515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Capability uplift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300685" y="2886121"/>
            <a:ext cx="3157515" cy="271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briefings, analyst academies, certified training.</a:t>
            </a:r>
            <a:endParaRPr lang="en-US" sz="975" dirty="0"/>
          </a:p>
        </p:txBody>
      </p:sp>
      <p:sp>
        <p:nvSpPr>
          <p:cNvPr id="54" name="Shape 52"/>
          <p:cNvSpPr/>
          <p:nvPr/>
        </p:nvSpPr>
        <p:spPr>
          <a:xfrm>
            <a:off x="4814865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72015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4872015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 DELIVERY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057900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15050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115050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300935" y="3314700"/>
            <a:ext cx="1157265" cy="414315"/>
          </a:xfrm>
          <a:prstGeom prst="roundRect">
            <a:avLst>
              <a:gd name="adj" fmla="val 27588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58085" y="3371850"/>
            <a:ext cx="104296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7358085" y="3557565"/>
            <a:ext cx="1042965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6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14350" y="4143421"/>
            <a:ext cx="8115300" cy="542971"/>
          </a:xfrm>
          <a:prstGeom prst="roundRect">
            <a:avLst>
              <a:gd name="adj" fmla="val 23678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101600" dist="1905" dir="5400000">
              <a:srgbClr val="000000">
                <a:alpha val="2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42915" y="4243365"/>
            <a:ext cx="342900" cy="342900"/>
          </a:xfrm>
          <a:prstGeom prst="roundRect">
            <a:avLst>
              <a:gd name="adj" fmla="val 291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2915" y="4286250"/>
            <a:ext cx="342900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085850" y="4229100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Close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1085850" y="4414815"/>
            <a:ext cx="486918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 governance, talent, and platforms to industrialise AI with public trust.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700985" y="4271985"/>
            <a:ext cx="785835" cy="285750"/>
          </a:xfrm>
          <a:prstGeom prst="roundRect">
            <a:avLst>
              <a:gd name="adj" fmla="val 30016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1905" dir="5400000">
              <a:srgbClr val="000000">
                <a:alpha val="3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7736647" y="4314871"/>
            <a:ext cx="714421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Pilot to Production: Industrialising AI in a Central Bank</dc:title>
  <dc:subject>PptxGenJS Presentation</dc:subject>
  <dc:creator>Central Bank AI Strategy</dc:creator>
  <cp:lastModifiedBy>Central Bank AI Strategy</cp:lastModifiedBy>
  <cp:revision>1</cp:revision>
  <dcterms:created xsi:type="dcterms:W3CDTF">2026-01-07T16:11:09Z</dcterms:created>
  <dcterms:modified xsi:type="dcterms:W3CDTF">2026-01-07T16:11:09Z</dcterms:modified>
</cp:coreProperties>
</file>